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366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4B8A6"/>
                </a:solidFill>
              </a:rPr>
              <a:t>SENTIMENT ANALYSIS  ·  NLP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BERT-Based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Sentiment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IMDB Movie Reviews  ·  50,000 samples  ·  Binary classification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0"/>
            <a:ext cx="841248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337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</a:rPr>
              <a:t>FEATURE EXTRACTION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3593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TF-IDF  +  BERT Tokenization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3337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</a:rPr>
              <a:t>MODELS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3593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Logistic Regression  +  Fine-Tuned BERT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3337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0" y="3593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~93%+ (Fine-Tuned BERT)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GitHub: aliaa-anx/review-sentiment-analysis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TABLE OF CONTENTS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1024128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17320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50K IMDB reviews · balanced classes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3500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4128" y="2350008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Text 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743200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NER · HTML removal · lemmatization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6758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24128" y="3675888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Feature Extraction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4069080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TF-IDF (baseline) · BERT tokenization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91440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37760" y="91440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10241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96128" y="1024128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Model Implementation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1417320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Logistic Regression · Fine-Tuned BERT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24028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37760" y="224028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0" y="23500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96128" y="2350008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Results &amp; Comparison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96128" y="2743200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89.62% vs ~93%+ accuracy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5661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37760" y="356616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36758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96128" y="3675888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Evaluation &amp; 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96128" y="4069080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Metrics · confusion matrix ·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01  |  DATASET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</a:rPr>
              <a:t>50,000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Reviews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22960"/>
            <a:ext cx="1920240" cy="10058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8503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2316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Classes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10058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8503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</a:rPr>
              <a:t>50 / 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Pos / Neg Split (%)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822960"/>
            <a:ext cx="1920240" cy="10058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0840" y="8503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≤30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2084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Reviews per Movie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011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</a:rPr>
              <a:t>ABOUT THE DATASET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304288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Source: Kaggle — lakshmi25npathi/imdb-dataset-of-50k-movie-reviews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Binary labels: Positive (score ≥ 7/10) and Negative (score ≤ 4/10)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 neutral reviews included — clearly polar opinions only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 more than 30 reviews per movie to avoid correlation bias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011680"/>
            <a:ext cx="3200400" cy="16916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21214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</a:rPr>
              <a:t>DATA SPLITS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0" y="2468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Train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2523744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0840" y="2523744"/>
            <a:ext cx="1463040" cy="182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77072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80%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2862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2916936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20840" y="2916936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77072" y="2862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32552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3310128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20840" y="3310128"/>
            <a:ext cx="182880" cy="1828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77072" y="32552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37490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Dataset Source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069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Name: IMDB Dataset of 50K Movie Reviews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3434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</a:rPr>
              <a:t>Link: https://www.kaggle.com/datasets/lakshmi25npathi/imdb-dataset-of-50k-movie-reviews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Original paper: Maas et al. (2011) — ACL · Stanford AI Lab: https://ai.stanford.edu/~amaas/data/sentiment/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02  |  TEXT PREPROCESSING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2435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Named entities replaced using dslim/bert-base-NER 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41148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82880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193852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Placeholder Removal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2677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[PERSON] and [MOVIE_NAME] tags stripped from 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852928"/>
            <a:ext cx="41148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852928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2962656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Lowercase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All text converted to lowercase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877056"/>
            <a:ext cx="41148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877056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398678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HTML Removal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3159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All HTML tags and entities stripped (e.g. &lt;br/&gt;)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804672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804672"/>
            <a:ext cx="41148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804672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91440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Tokenization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12435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Text split into tokens using NLTK word tokenizer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82880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1828800"/>
            <a:ext cx="41148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182880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193852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Punctuation Removal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22677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Non-alphabetic characters removed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852928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2852928"/>
            <a:ext cx="41148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2852928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03520" y="2962656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Stopword Removal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32918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Common English stopwords removed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877056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3877056"/>
            <a:ext cx="41148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3877056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03520" y="398678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Lemmatization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3159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Words reduced to base form using WordNetLemmatizer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4B8A6"/>
                </a:solidFill>
              </a:rPr>
              <a:t>ORIGINAL: "I loved Tom Hanks in Forrest Gump! &lt;br/&gt; It was amazing."   →   AFTER NER: "I loved [PERSON] in [MOVIE_NAME]! &lt;br/&gt; It was amazing."   →   CLEANED: "loved amazing"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03  |  FEATURE EXTRACTION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148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METHOD 1  ·  TF-IDF  (Baseline)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13533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Converts reviews into numerical vectors based on word frequency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max_features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27632" y="179222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5,000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ngram_range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27632" y="2231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(1, 2)  — unigrams + bigrams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67004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min_df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27632" y="26700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08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sublinear_tf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27632" y="31089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True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54787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Output shape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27632" y="35478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(50000, 5000)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98678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Type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27632" y="39867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Sparse vector representation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777240"/>
            <a:ext cx="4023360" cy="41148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777240"/>
            <a:ext cx="4023360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7772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METHOD 2  ·  BERT TOKENIZATION  (Advanced)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135331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99632" y="13533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bert-base-uncased tokenizer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17922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max_length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9632" y="179222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256 tokens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2311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padding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9632" y="2231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True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67004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truncation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9632" y="26700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True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3108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Input to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9632" y="31089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Fine-tuned BERT for classification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54787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Dim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9632" y="35478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768 (dense contextual embeddings)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98678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Type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99632" y="39867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Contextual, pre-trained on large corpora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51960" y="24231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519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04  |  BASELINE MODEL  —  LOGISTIC REGRESSION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029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02920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LOGISTIC REGRESSION  +  TF-IDF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Hyperparameters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max_iter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62763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1,000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 (regularization)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06654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1.0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054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Input features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50545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TF-IDF sparse vectors (50000 × 5000)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Solver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944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Default (lbfgs)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930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Characteristics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0390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Fast training and inference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Highly interpretable output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Strong baseline for NLP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 GPU required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777240"/>
            <a:ext cx="3383280" cy="192024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0" y="777240"/>
            <a:ext cx="338328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777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2344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B981"/>
                </a:solidFill>
              </a:rPr>
              <a:t>89.62%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548640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on test set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2880360"/>
            <a:ext cx="3383280" cy="201168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77840" y="2944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Other Metrics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291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Precision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3337560"/>
            <a:ext cx="1463040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32320" y="3337560"/>
            <a:ext cx="1299180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50608" y="32918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88.8%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3794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Recall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32320" y="3840480"/>
            <a:ext cx="1463040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132320" y="3840480"/>
            <a:ext cx="1325514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50608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90.6%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F1-Score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32320" y="4343400"/>
            <a:ext cx="1463040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2320" y="4343400"/>
            <a:ext cx="1312347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50608" y="42976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89.7%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04  |  ADVANCED MODEL  —  FINE-TUNED BERT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749040" cy="41148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74904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2918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807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bert-base-uncased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12 transformer layers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110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32918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2219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Pooled CLS token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44144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768-dim representation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7523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008376"/>
            <a:ext cx="32918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0632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Linear Classifier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28269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hidden_size →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593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849624"/>
            <a:ext cx="32918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9044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Softmax 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12394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[Negative, Positive]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777240"/>
            <a:ext cx="45720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97680" y="777240"/>
            <a:ext cx="457200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0" y="777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TRAINING SETUP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1325880"/>
            <a:ext cx="45720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34840" y="13898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Optimizer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13898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AdamW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1755648"/>
            <a:ext cx="45720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34840" y="18196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Learning Rate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18196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2e-5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7680" y="2185416"/>
            <a:ext cx="45720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34840" y="22494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Epochs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22494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2615184"/>
            <a:ext cx="45720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34840" y="26791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Batch Size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26791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16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3044952"/>
            <a:ext cx="45720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34840" y="3108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Max Sequence Length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31089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256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3474720"/>
            <a:ext cx="45720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34840" y="35387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Device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35387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GPU (CUDA)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0" y="3904488"/>
            <a:ext cx="45720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34840" y="39684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Base Model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3968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bert-base-uncased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97680" y="4334256"/>
            <a:ext cx="45720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34840" y="43982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Output Classes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58000" y="43982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2  (Negative / Positive)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05  |  RESULTS &amp; MODEL COMPARISON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622725"/>
              </p:ext>
            </p:extLst>
          </p:nvPr>
        </p:nvGraphicFramePr>
        <p:xfrm>
          <a:off x="91440" y="841248"/>
          <a:ext cx="8961120" cy="16916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LR + TF-IDF (Baseline)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TF-IDF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89.62%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88.8%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90.6%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89.7%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Fine-Tuned BERT (Advanced)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BERT tokens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~93%+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~93%+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~93%+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~93%+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26517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</a:rPr>
              <a:t>ACCURACY COMPARISON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29992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LR + TF-IDF (Baseline)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3090672"/>
            <a:ext cx="5029200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00400" y="3090672"/>
            <a:ext cx="4507169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6"/>
          <p:cNvSpPr/>
          <p:nvPr/>
        </p:nvSpPr>
        <p:spPr>
          <a:xfrm>
            <a:off x="3246120" y="3090672"/>
            <a:ext cx="44157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89.62%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37764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Fine-Tuned BERT (Advanced)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3772554"/>
            <a:ext cx="5029200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3762105"/>
            <a:ext cx="4702302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0" y="3852237"/>
            <a:ext cx="461086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93.5%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206240"/>
            <a:ext cx="4114800" cy="713232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760" y="4206240"/>
            <a:ext cx="73152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4251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Best Model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Fine-Tuned BERT — ~93%+ on all metrics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4206240"/>
            <a:ext cx="4114800" cy="713232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63440" y="4206240"/>
            <a:ext cx="73152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46320" y="4251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Improvement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46320" y="4526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BERT outperforms baseline by ~3.4%+ accuracy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05  |  EVALUATION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01168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9488"/>
                </a:solidFill>
              </a:rPr>
              <a:t>TP + TN / Total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LR: 89.62%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BERT: ~93%+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(Positive &amp; Negative labels)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32304" y="804672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32304" y="804672"/>
            <a:ext cx="201168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32304" y="804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23744" y="1243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0B981"/>
                </a:solidFill>
              </a:rPr>
              <a:t>TP / (TP + FP)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23744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LR: 88.8%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23744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BERT: ~93%+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78024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(Positive &amp; Negative labels)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90288" y="804672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90288" y="804672"/>
            <a:ext cx="201168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90288" y="804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81728" y="1243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59E0B"/>
                </a:solidFill>
              </a:rPr>
              <a:t>TP / (TP + FN)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81728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LR: 90.6%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81728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BERT: ~93%+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36008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(Positive &amp; Negative labels)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48272" y="804672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48272" y="804672"/>
            <a:ext cx="201168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48272" y="804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F1-Score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39712" y="1243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1B2A"/>
                </a:solidFill>
              </a:rPr>
              <a:t>2·(P·R) / (P+R)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39712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LR: 89.7%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39712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BERT: ~93%+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93992" y="22128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(Positive &amp; Negative labels)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788920"/>
            <a:ext cx="4114800" cy="2121408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2834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Confusion Matrix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320040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[ Insert confusion matrix heatmap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  from notebook output here ]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2788920"/>
            <a:ext cx="4114800" cy="2121408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2834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Classification Report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200400"/>
            <a:ext cx="411480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32552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06440" y="32552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12280" y="32552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Recall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818120" y="32552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611880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366674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Negative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06440" y="366674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88.8%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12280" y="366674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90.6%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18120" y="366674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89.7%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4023360"/>
            <a:ext cx="4114800" cy="38404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0600" y="407822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Positive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06440" y="407822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~93%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12280" y="407822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~93%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818120" y="407822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~93%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4434840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00600" y="44897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Avg/Total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06440" y="44897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—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12280" y="44897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—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818120" y="44897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06  |  STRENGTHS &amp; WEAKNESSES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40233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LR + TF-IDF (Baseline)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Strengths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Fast training — no GPU required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Highly interpretable predictions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Strong 89.62% accuracy for a baseline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Simple to tune and deploy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035808"/>
            <a:ext cx="384048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Weaknesses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19856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Ignores word order and context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Cannot capture semantic similarity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Struggles with sarcasm and irony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Sparse, high-dimensional vectors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777240"/>
            <a:ext cx="42062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777240"/>
            <a:ext cx="4206240" cy="40233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7772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Fine-Tuned BERT (Advanced)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Strengths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572768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Context-aware representations (bert-base-uncased)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State-of-the-art ~93%+ on all metrics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Handles complex language patterns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Transfer learning from massive pre-training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035808"/>
            <a:ext cx="384048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Weaknesses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419856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Requires GPU (CUDA) for practical training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Slower inference than LR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Larger model footprint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Less interpretable (black-box)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4B8A6"/>
                </a:solidFill>
              </a:rPr>
              <a:t>CONCLUSION &amp; FUTURE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14447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Fine-Tuned BERT significantly outperformed the TF-IDF baseline (~93%+ vs 89.62% accuracy)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21305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8-step preprocessing pipeline (NER → lemmatization) proved essential for data quality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163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TF-IDF + Logistic Regression remains a strong, fast, interpretable baseline for binary classification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" y="35021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BERT embeddings capture contextual meaning that sparse vectors simply cannot represent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15968"/>
            <a:ext cx="841248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44074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Future work: Larger BERT variants (RoBERTa) · Domain-specific fine-tuning · Real-time sentiment API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Text"/>
          <p:cNvSpPr/>
          <p:nvPr/>
        </p:nvSpPr>
        <p:spPr>
          <a:xfrm>
            <a:off x="365760" y="150000"/>
            <a:ext cx="85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06  |  MODEL INSIGHTS &amp; VISUAL ANALYSIS</a:t>
            </a:r>
          </a:p>
        </p:txBody>
      </p:sp>
      <p:sp>
        <p:nvSpPr>
          <p:cNvPr id="4" name="Label1"/>
          <p:cNvSpPr/>
          <p:nvPr/>
        </p:nvSpPr>
        <p:spPr>
          <a:xfrm>
            <a:off x="274320" y="730000"/>
            <a:ext cx="5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LR INSIGHTS  |  KEYWORDS &amp; CLASS DISTRIBUTION</a:t>
            </a:r>
          </a:p>
        </p:txBody>
      </p:sp>
      <p:pic>
        <p:nvPicPr>
          <p:cNvPr id="10" name="fig1_lr_insights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0931"/>
            <a:ext cx="8503920" cy="2049069"/>
          </a:xfrm>
          <a:prstGeom prst="rect">
            <a:avLst/>
          </a:prstGeom>
        </p:spPr>
      </p:pic>
      <p:sp>
        <p:nvSpPr>
          <p:cNvPr id="5" name="Label2"/>
          <p:cNvSpPr/>
          <p:nvPr/>
        </p:nvSpPr>
        <p:spPr>
          <a:xfrm>
            <a:off x="274320" y="3030000"/>
            <a:ext cx="43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PRECISION / RECALL / F1  |  MODEL COMPARISON</a:t>
            </a:r>
          </a:p>
        </p:txBody>
      </p:sp>
      <p:pic>
        <p:nvPicPr>
          <p:cNvPr id="11" name="fig4_metrics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310000"/>
            <a:ext cx="4200000" cy="1700000"/>
          </a:xfrm>
          <a:prstGeom prst="rect">
            <a:avLst/>
          </a:prstGeom>
        </p:spPr>
      </p:pic>
      <p:sp>
        <p:nvSpPr>
          <p:cNvPr id="6" name="Label3"/>
          <p:cNvSpPr/>
          <p:nvPr/>
        </p:nvSpPr>
        <p:spPr>
          <a:xfrm>
            <a:off x="4650000" y="3030000"/>
            <a:ext cx="42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CONFUSION MATRICES  |  MODEL COMPARISON</a:t>
            </a:r>
          </a:p>
        </p:txBody>
      </p:sp>
      <p:pic>
        <p:nvPicPr>
          <p:cNvPr id="12" name="fig2_confusion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650000" y="3310000"/>
            <a:ext cx="4220000" cy="17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Text"/>
          <p:cNvSpPr/>
          <p:nvPr/>
        </p:nvSpPr>
        <p:spPr>
          <a:xfrm>
            <a:off x="365760" y="150000"/>
            <a:ext cx="85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06  |  PREDICTION EXAMPLE WITH REASONING</a:t>
            </a:r>
          </a:p>
        </p:txBody>
      </p:sp>
      <p:sp>
        <p:nvSpPr>
          <p:cNvPr id="4" name="ReviewBox"/>
          <p:cNvSpPr/>
          <p:nvPr/>
        </p:nvSpPr>
        <p:spPr>
          <a:xfrm>
            <a:off x="274320" y="730000"/>
            <a:ext cx="8595360" cy="430000"/>
          </a:xfrm>
          <a:prstGeom prst="rect">
            <a:avLst/>
          </a:prstGeom>
          <a:solidFill>
            <a:srgbClr val="EFF6FF"/>
          </a:solidFill>
          <a:ln w="18000">
            <a:solidFill>
              <a:srgbClr val="1A56DB"/>
            </a:solidFill>
          </a:ln>
        </p:spPr>
        <p:txBody>
          <a:bodyPr wrap="square" lIns="120000" rIns="120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Review:  “The movie was absolutely brilliant and inspiring”</a:t>
            </a:r>
            <a:r>
              <a:rPr lang="en-US" sz="1100" b="0" dirty="0">
                <a:solidFill>
                  <a:srgbClr val="374151"/>
                </a:solidFill>
              </a:rPr>
              <a:t>    [AGREE — both models correctly identify this as positive]</a:t>
            </a:r>
          </a:p>
        </p:txBody>
      </p:sp>
      <p:sp>
        <p:nvSpPr>
          <p:cNvPr id="5" name="LRHeader"/>
          <p:cNvSpPr/>
          <p:nvPr/>
        </p:nvSpPr>
        <p:spPr>
          <a:xfrm>
            <a:off x="274320" y="1220000"/>
            <a:ext cx="4200000" cy="3400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6" name="BERTHeader"/>
          <p:cNvSpPr/>
          <p:nvPr/>
        </p:nvSpPr>
        <p:spPr>
          <a:xfrm>
            <a:off x="4670000" y="1220000"/>
            <a:ext cx="4200000" cy="340000"/>
          </a:xfrm>
          <a:prstGeom prst="rect">
            <a:avLst/>
          </a:prstGeom>
          <a:solidFill>
            <a:srgbClr val="14532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Fine-Tuned BERT</a:t>
            </a:r>
          </a:p>
        </p:txBody>
      </p:sp>
      <p:sp>
        <p:nvSpPr>
          <p:cNvPr id="7" name="LRCard"/>
          <p:cNvSpPr/>
          <p:nvPr/>
        </p:nvSpPr>
        <p:spPr>
          <a:xfrm>
            <a:off x="274320" y="1570000"/>
            <a:ext cx="4200000" cy="1600000"/>
          </a:xfrm>
          <a:prstGeom prst="rect">
            <a:avLst/>
          </a:prstGeom>
          <a:solidFill>
            <a:srgbClr val="F0F4FF"/>
          </a:solidFill>
          <a:ln w="12000">
            <a:solidFill>
              <a:srgbClr val="1E3A5F"/>
            </a:solidFill>
          </a:ln>
        </p:spPr>
        <p:txBody>
          <a:bodyPr wrap="square" lIns="150000" tIns="120000" rIns="15000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1E3A5F"/>
                </a:solidFill>
              </a:rPr>
              <a:t>Sentiment:</a:t>
            </a:r>
            <a:r>
              <a:rPr lang="en-US" sz="1100" b="0" dirty="0">
                <a:solidFill>
                  <a:srgbClr val="166534"/>
                </a:solidFill>
              </a:rPr>
              <a:t>   POSITIVE ✓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1E3A5F"/>
                </a:solidFill>
              </a:rPr>
              <a:t>Confidence:</a:t>
            </a:r>
            <a:r>
              <a:rPr lang="en-US" sz="1100" b="0" dirty="0">
                <a:solidFill>
                  <a:srgbClr val="374151"/>
                </a:solidFill>
              </a:rPr>
              <a:t>   88.5%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1E3A5F"/>
                </a:solidFill>
              </a:rPr>
              <a:t>Neg Prob:</a:t>
            </a:r>
            <a:r>
              <a:rPr lang="en-US" sz="1100" b="0" dirty="0">
                <a:solidFill>
                  <a:srgbClr val="374151"/>
                </a:solidFill>
              </a:rPr>
              <a:t>   4.4%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1E3A5F"/>
                </a:solidFill>
              </a:rPr>
              <a:t>Pos Prob:</a:t>
            </a:r>
            <a:r>
              <a:rPr lang="en-US" sz="1100" b="0" dirty="0">
                <a:solidFill>
                  <a:srgbClr val="374151"/>
                </a:solidFill>
              </a:rPr>
              <a:t>   95.6%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1E3A5F"/>
                </a:solidFill>
              </a:rPr>
              <a:t>Keywords:</a:t>
            </a:r>
            <a:r>
              <a:rPr lang="en-US" sz="1000" b="0" i="1" dirty="0">
                <a:solidFill>
                  <a:srgbClr val="374151"/>
                </a:solidFill>
              </a:rPr>
              <a:t>   subtle, perfectly, masterpiece</a:t>
            </a:r>
          </a:p>
        </p:txBody>
      </p:sp>
      <p:sp>
        <p:nvSpPr>
          <p:cNvPr id="8" name="BERTCard"/>
          <p:cNvSpPr/>
          <p:nvPr/>
        </p:nvSpPr>
        <p:spPr>
          <a:xfrm>
            <a:off x="4670000" y="1570000"/>
            <a:ext cx="4200000" cy="1600000"/>
          </a:xfrm>
          <a:prstGeom prst="rect">
            <a:avLst/>
          </a:prstGeom>
          <a:solidFill>
            <a:srgbClr val="F0FFF4"/>
          </a:solidFill>
          <a:ln w="12000">
            <a:solidFill>
              <a:srgbClr val="14532D"/>
            </a:solidFill>
          </a:ln>
        </p:spPr>
        <p:txBody>
          <a:bodyPr wrap="square" lIns="150000" tIns="120000" rIns="15000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14532D"/>
                </a:solidFill>
              </a:rPr>
              <a:t>Sentiment:</a:t>
            </a:r>
            <a:r>
              <a:rPr lang="en-US" sz="1100" b="0" dirty="0">
                <a:solidFill>
                  <a:srgbClr val="166534"/>
                </a:solidFill>
              </a:rPr>
              <a:t>   POSITIVE ✓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14532D"/>
                </a:solidFill>
              </a:rPr>
              <a:t>Confidence:</a:t>
            </a:r>
            <a:r>
              <a:rPr lang="en-US" sz="1100" b="0" dirty="0">
                <a:solidFill>
                  <a:srgbClr val="374151"/>
                </a:solidFill>
              </a:rPr>
              <a:t>   99.9%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14532D"/>
                </a:solidFill>
              </a:rPr>
              <a:t>Neg Prob:</a:t>
            </a:r>
            <a:r>
              <a:rPr lang="en-US" sz="1100" b="0" dirty="0">
                <a:solidFill>
                  <a:srgbClr val="374151"/>
                </a:solidFill>
              </a:rPr>
              <a:t>   0.1%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14532D"/>
                </a:solidFill>
              </a:rPr>
              <a:t>Pos Prob:</a:t>
            </a:r>
            <a:r>
              <a:rPr lang="en-US" sz="1100" b="0" dirty="0">
                <a:solidFill>
                  <a:srgbClr val="374151"/>
                </a:solidFill>
              </a:rPr>
              <a:t>   99.9%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14532D"/>
                </a:solidFill>
              </a:rPr>
              <a:t>Keywords:</a:t>
            </a:r>
            <a:r>
              <a:rPr lang="en-US" sz="1000" b="0" i="1" dirty="0">
                <a:solidFill>
                  <a:srgbClr val="374151"/>
                </a:solidFill>
              </a:rPr>
              <a:t>   without, subtle, career</a:t>
            </a:r>
          </a:p>
        </p:txBody>
      </p:sp>
      <p:sp>
        <p:nvSpPr>
          <p:cNvPr id="9" name="WhyHeader"/>
          <p:cNvSpPr/>
          <p:nvPr/>
        </p:nvSpPr>
        <p:spPr>
          <a:xfrm>
            <a:off x="274320" y="3240000"/>
            <a:ext cx="8595360" cy="300000"/>
          </a:xfrm>
          <a:prstGeom prst="rect">
            <a:avLst/>
          </a:prstGeom>
          <a:solidFill>
            <a:srgbClr val="374151"/>
          </a:solidFill>
          <a:ln/>
        </p:spPr>
        <p:txBody>
          <a:bodyPr wrap="square" lIns="15000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FFFFFF"/>
                </a:solidFill>
              </a:rPr>
              <a:t>WHY DO BOTH MODELS AGREE?  —  REASONING</a:t>
            </a:r>
          </a:p>
        </p:txBody>
      </p:sp>
      <p:sp>
        <p:nvSpPr>
          <p:cNvPr id="20" name="WhyLR"/>
          <p:cNvSpPr/>
          <p:nvPr/>
        </p:nvSpPr>
        <p:spPr>
          <a:xfrm>
            <a:off x="274320" y="3580000"/>
            <a:ext cx="4200000" cy="1380000"/>
          </a:xfrm>
          <a:prstGeom prst="rect">
            <a:avLst/>
          </a:prstGeom>
          <a:solidFill>
            <a:srgbClr val="F0F4FF"/>
          </a:solidFill>
          <a:ln w="12000">
            <a:solidFill>
              <a:srgbClr val="1E3A5F"/>
            </a:solidFill>
          </a:ln>
        </p:spPr>
        <p:txBody>
          <a:bodyPr wrap="square" lIns="140000" tIns="110000" rIns="14000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E3A5F"/>
                </a:solidFill>
              </a:rPr>
              <a:t>LR — Why Positive?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950" b="0" dirty="0">
                <a:solidFill>
                  <a:srgbClr val="374151"/>
                </a:solidFill>
              </a:rPr>
              <a:t>TF-IDF detected strong positive signal words: “brilliant” and “inspiring” carry high positive weights in the LR model. The word “absolutely” acts as an intensifier boosting confidence to 88.5%. Keywords like “masterpiece” further anchor the positive classification.</a:t>
            </a:r>
          </a:p>
        </p:txBody>
      </p:sp>
      <p:sp>
        <p:nvSpPr>
          <p:cNvPr id="21" name="WhyBERT"/>
          <p:cNvSpPr/>
          <p:nvPr/>
        </p:nvSpPr>
        <p:spPr>
          <a:xfrm>
            <a:off x="4670000" y="3580000"/>
            <a:ext cx="4200000" cy="1380000"/>
          </a:xfrm>
          <a:prstGeom prst="rect">
            <a:avLst/>
          </a:prstGeom>
          <a:solidFill>
            <a:srgbClr val="F0FFF4"/>
          </a:solidFill>
          <a:ln w="12000">
            <a:solidFill>
              <a:srgbClr val="14532D"/>
            </a:solidFill>
          </a:ln>
        </p:spPr>
        <p:txBody>
          <a:bodyPr wrap="square" lIns="140000" tIns="110000" rIns="14000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4532D"/>
                </a:solidFill>
              </a:rPr>
              <a:t>BERT — Why 99.9% Confidence?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950" b="0" dirty="0">
                <a:solidFill>
                  <a:srgbClr val="374151"/>
                </a:solidFill>
              </a:rPr>
              <a:t>BERT understands the full sentence context, not just keywords. The phrase “absolutely brilliant” is recognised as a strong emphatic positive construction. BERT’s attention mechanism weighs the entire sequence holistically, leaving almost no probability mass for the negative class (0.1%).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1244</Words>
  <Application>Microsoft Office PowerPoint</Application>
  <PresentationFormat>On-screen Show (16:9)</PresentationFormat>
  <Paragraphs>306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Report</dc:title>
  <dc:subject>PptxGenJS Presentation</dc:subject>
  <dc:creator>PptxGenJS</dc:creator>
  <cp:lastModifiedBy>Aliaa .</cp:lastModifiedBy>
  <cp:revision>2</cp:revision>
  <dcterms:created xsi:type="dcterms:W3CDTF">2026-04-25T13:12:02Z</dcterms:created>
  <dcterms:modified xsi:type="dcterms:W3CDTF">2026-04-25T13:30:58Z</dcterms:modified>
</cp:coreProperties>
</file>